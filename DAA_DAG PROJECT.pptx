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2" r:id="rId9"/>
    <p:sldId id="263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ene VM" userId="c621181d60bbacec" providerId="LiveId" clId="{3AF54311-9387-4703-9A09-2395F852DCFA}"/>
    <pc:docChg chg="delSld modSld sldOrd">
      <pc:chgData name="Harene VM" userId="c621181d60bbacec" providerId="LiveId" clId="{3AF54311-9387-4703-9A09-2395F852DCFA}" dt="2026-04-20T03:18:58.521" v="2"/>
      <pc:docMkLst>
        <pc:docMk/>
      </pc:docMkLst>
      <pc:sldChg chg="del">
        <pc:chgData name="Harene VM" userId="c621181d60bbacec" providerId="LiveId" clId="{3AF54311-9387-4703-9A09-2395F852DCFA}" dt="2026-04-20T03:18:55.685" v="0" actId="47"/>
        <pc:sldMkLst>
          <pc:docMk/>
          <pc:sldMk cId="0" sldId="261"/>
        </pc:sldMkLst>
      </pc:sldChg>
      <pc:sldChg chg="ord">
        <pc:chgData name="Harene VM" userId="c621181d60bbacec" providerId="LiveId" clId="{3AF54311-9387-4703-9A09-2395F852DCFA}" dt="2026-04-20T03:18:58.521" v="2"/>
        <pc:sldMkLst>
          <pc:docMk/>
          <pc:sldMk cId="293479408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1293" y="1486855"/>
            <a:ext cx="10534649" cy="49720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2141" y="673128"/>
            <a:ext cx="8907716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97196" y="1605901"/>
            <a:ext cx="7320915" cy="2349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1"/>
            <a:ext cx="12191998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847" y="1589512"/>
            <a:ext cx="1371004" cy="1066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7863" y="4413704"/>
            <a:ext cx="1476374" cy="18383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94966" y="2976740"/>
            <a:ext cx="6477833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latin typeface="Times New Roman"/>
                <a:cs typeface="Times New Roman"/>
              </a:rPr>
              <a:t>TOPIC</a:t>
            </a:r>
            <a:r>
              <a:rPr sz="2900" b="1" spc="-4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:</a:t>
            </a:r>
            <a:r>
              <a:rPr lang="en-IN" sz="2900" b="1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AND CONQUER – TOPOLOGICAL SORTING USING DAG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1600" y="5691053"/>
            <a:ext cx="3000984" cy="88165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500" dirty="0">
                <a:latin typeface="Times New Roman"/>
                <a:cs typeface="Times New Roman"/>
              </a:rPr>
              <a:t>-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lang="en-IN" sz="2500" spc="-25" dirty="0">
                <a:latin typeface="Times New Roman"/>
                <a:cs typeface="Times New Roman"/>
              </a:rPr>
              <a:t>HARSHITHA U M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500" spc="-10" dirty="0">
                <a:latin typeface="Times New Roman"/>
                <a:cs typeface="Times New Roman"/>
              </a:rPr>
              <a:t>  (</a:t>
            </a:r>
            <a:r>
              <a:rPr sz="2500" spc="-10" dirty="0">
                <a:latin typeface="Times New Roman"/>
                <a:cs typeface="Times New Roman"/>
              </a:rPr>
              <a:t>24ITR0</a:t>
            </a:r>
            <a:r>
              <a:rPr lang="en-IN" sz="2500" spc="-10" dirty="0">
                <a:latin typeface="Times New Roman"/>
                <a:cs typeface="Times New Roman"/>
              </a:rPr>
              <a:t>48)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494967" y="1315748"/>
            <a:ext cx="723900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9495" marR="5080" indent="-2297430">
              <a:lnSpc>
                <a:spcPct val="113300"/>
              </a:lnSpc>
              <a:spcBef>
                <a:spcPts val="100"/>
              </a:spcBef>
            </a:pPr>
            <a:r>
              <a:rPr sz="3200" dirty="0"/>
              <a:t>24ITT41</a:t>
            </a:r>
            <a:r>
              <a:rPr sz="3200" spc="-95" dirty="0"/>
              <a:t> </a:t>
            </a:r>
            <a:r>
              <a:rPr sz="3200" dirty="0"/>
              <a:t>-</a:t>
            </a:r>
            <a:r>
              <a:rPr sz="3200" spc="-90" dirty="0"/>
              <a:t> </a:t>
            </a:r>
            <a:r>
              <a:rPr sz="3200" dirty="0"/>
              <a:t>DESIGN</a:t>
            </a:r>
            <a:r>
              <a:rPr sz="3200" spc="-90" dirty="0"/>
              <a:t> </a:t>
            </a:r>
            <a:r>
              <a:rPr sz="3200" dirty="0"/>
              <a:t>AND</a:t>
            </a:r>
            <a:r>
              <a:rPr sz="3200" spc="-90" dirty="0"/>
              <a:t> </a:t>
            </a:r>
            <a:r>
              <a:rPr sz="3200" dirty="0"/>
              <a:t>ANALYSIS</a:t>
            </a:r>
            <a:r>
              <a:rPr sz="3200" spc="-95" dirty="0"/>
              <a:t> </a:t>
            </a:r>
            <a:r>
              <a:rPr sz="3200" spc="-25" dirty="0"/>
              <a:t>OF </a:t>
            </a:r>
            <a:r>
              <a:rPr sz="3200" spc="-10" dirty="0"/>
              <a:t>ALGORITHM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429000" y="457200"/>
            <a:ext cx="54330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60" dirty="0"/>
              <a:t> </a:t>
            </a:r>
            <a:r>
              <a:rPr dirty="0"/>
              <a:t>STATEMENT</a:t>
            </a:r>
            <a:r>
              <a:rPr spc="-155" dirty="0"/>
              <a:t> </a:t>
            </a:r>
            <a:r>
              <a:rPr spc="-5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6400" y="1434262"/>
            <a:ext cx="9830435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real-world systems, certain tasks must be completed before others.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Course prerequisites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scheduling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systems in software development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tasks and dependencies as a Directed Acyclic Graph (DAG)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→ Vertex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Dependency → Directed Edge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valid order of execution using Topological Sorting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541047" y="1879304"/>
            <a:ext cx="8589010" cy="31670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project tasks using graph representation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a valid execution order of tasks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dependency conflicts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Topological Sorting algorithm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cycles (invalid project structure) 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799015" y="911339"/>
            <a:ext cx="25939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52600" y="304800"/>
            <a:ext cx="910205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7475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A</a:t>
            </a:r>
            <a:r>
              <a:rPr sz="3200" dirty="0"/>
              <a:t>LGORITHM</a:t>
            </a:r>
            <a:r>
              <a:rPr sz="3200" spc="-155" dirty="0"/>
              <a:t> </a:t>
            </a:r>
            <a:r>
              <a:rPr sz="3200" dirty="0"/>
              <a:t>DESIGN</a:t>
            </a:r>
            <a:r>
              <a:rPr sz="3200" spc="-150" dirty="0"/>
              <a:t> </a:t>
            </a:r>
            <a:r>
              <a:rPr sz="3200" spc="-10" dirty="0"/>
              <a:t>TECHNIQUE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200" y="1203017"/>
            <a:ext cx="8161622" cy="53501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/>
                <a:cs typeface="Times New Roman"/>
              </a:rPr>
              <a:t>DFS-Based Method: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Visit nodes recursively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Process dependencies first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Store vertices in reverse finishing order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/>
                <a:cs typeface="Times New Roman"/>
              </a:rPr>
              <a:t>Source-Removal Method: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Find vertices with indegree 0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Remove them from graph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Repeat until graph becomes empty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/>
                <a:cs typeface="Times New Roman"/>
              </a:rPr>
              <a:t>Advantages: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Efficient dependency resolution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Detects cyclic dependencies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Ensures correct ordering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13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1524000"/>
            <a:ext cx="5972175" cy="3302827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DFS-BASED TOPOLOGICAL SORT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Algorithm: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1. Mark all vertices unvisited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2. For each unvisited vertex: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      Perform DFS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3. After visiting all adjacent vertices: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      Push current vertex into stack</a:t>
            </a:r>
          </a:p>
          <a:p>
            <a:pPr marL="12700" algn="l">
              <a:lnSpc>
                <a:spcPct val="100000"/>
              </a:lnSpc>
              <a:spcBef>
                <a:spcPts val="715"/>
              </a:spcBef>
            </a:pPr>
            <a:r>
              <a:rPr lang="en-US" dirty="0">
                <a:latin typeface="Times New Roman"/>
                <a:cs typeface="Times New Roman"/>
              </a:rPr>
              <a:t>4. Reverse stack gives topological order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050DD-50EF-3558-7A0F-0C3B32C0CA5E}"/>
              </a:ext>
            </a:extLst>
          </p:cNvPr>
          <p:cNvSpPr txBox="1"/>
          <p:nvPr/>
        </p:nvSpPr>
        <p:spPr>
          <a:xfrm>
            <a:off x="6400800" y="1524000"/>
            <a:ext cx="5486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SOURCE-REMOVAL ALGORITHM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indegree of all vertices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Add all vertices with indegree 0 to queue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While queue is not empty: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Remove vertex u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 u to result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 each adjacent vertex v: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Decrease indegree of v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If indegree[v] = 0, add to queue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If all vertices processed: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result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Graph contains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D9F15-5F43-7060-9C97-EB6D2C61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33400"/>
            <a:ext cx="8907716" cy="492443"/>
          </a:xfrm>
        </p:spPr>
        <p:txBody>
          <a:bodyPr/>
          <a:lstStyle/>
          <a:p>
            <a:pPr algn="ctr"/>
            <a:r>
              <a:rPr lang="en-IN" sz="3200" dirty="0"/>
              <a:t>PROOF OF CORRECTNESS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BD699-67A1-3C26-B6EF-CA03303AC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1344" y="1295400"/>
            <a:ext cx="8689311" cy="4801314"/>
          </a:xfrm>
        </p:spPr>
        <p:txBody>
          <a:bodyPr/>
          <a:lstStyle/>
          <a:p>
            <a:r>
              <a:rPr lang="en-US" sz="2400" dirty="0"/>
              <a:t>PROOF: Topological Sort Exists </a:t>
            </a:r>
            <a:r>
              <a:rPr lang="en-US" sz="2400" dirty="0" err="1"/>
              <a:t>Iff</a:t>
            </a:r>
            <a:r>
              <a:rPr lang="en-US" sz="2400" dirty="0"/>
              <a:t> Graph Is Dag</a:t>
            </a:r>
          </a:p>
          <a:p>
            <a:endParaRPr lang="en-US" sz="2400" dirty="0"/>
          </a:p>
          <a:p>
            <a:r>
              <a:rPr lang="en-US" sz="2400" dirty="0"/>
              <a:t>If Topological Sort Exists:</a:t>
            </a:r>
          </a:p>
          <a:p>
            <a:r>
              <a:rPr lang="en-US" sz="2400" dirty="0"/>
              <a:t>• Graph cannot contain cycle</a:t>
            </a:r>
          </a:p>
          <a:p>
            <a:r>
              <a:rPr lang="en-US" sz="2400" dirty="0"/>
              <a:t>• Because cyclic dependency violates ordering</a:t>
            </a:r>
          </a:p>
          <a:p>
            <a:endParaRPr lang="en-US" sz="2400" dirty="0"/>
          </a:p>
          <a:p>
            <a:r>
              <a:rPr lang="en-US" sz="2400" dirty="0"/>
              <a:t>If Graph is DAG:</a:t>
            </a:r>
          </a:p>
          <a:p>
            <a:r>
              <a:rPr lang="en-US" sz="2400" dirty="0"/>
              <a:t>• At least one vertex has indegree 0</a:t>
            </a:r>
          </a:p>
          <a:p>
            <a:r>
              <a:rPr lang="en-US" sz="2400" dirty="0"/>
              <a:t>• Remove it and repeat recursively</a:t>
            </a:r>
          </a:p>
          <a:p>
            <a:r>
              <a:rPr lang="en-US" sz="2400" dirty="0"/>
              <a:t>• Therefore valid topological ordering exists</a:t>
            </a:r>
          </a:p>
          <a:p>
            <a:endParaRPr lang="en-US" sz="2400" dirty="0"/>
          </a:p>
          <a:p>
            <a:r>
              <a:rPr lang="en-US" sz="2400" dirty="0"/>
              <a:t>Hence,</a:t>
            </a:r>
          </a:p>
          <a:p>
            <a:r>
              <a:rPr lang="en-US" sz="2400" dirty="0"/>
              <a:t>Topological Sorting exists if and only if graph is DAG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61387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86FE-209D-0960-EF9E-45178F2D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3FBE6EC-E9EB-4F18-C993-FE9AE54FA3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457200"/>
            <a:ext cx="89077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1330">
              <a:lnSpc>
                <a:spcPct val="100000"/>
              </a:lnSpc>
              <a:spcBef>
                <a:spcPts val="100"/>
              </a:spcBef>
            </a:pPr>
            <a:r>
              <a:rPr lang="en-IN" sz="3200" spc="-10" dirty="0"/>
              <a:t>OUTPUT SCREENSHOT</a:t>
            </a:r>
            <a:endParaRPr sz="3200" spc="-1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082B9-8496-0DDC-F6B9-532B7BC47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371600"/>
            <a:ext cx="9183284" cy="495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9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0">
              <a:lnSpc>
                <a:spcPct val="100000"/>
              </a:lnSpc>
              <a:spcBef>
                <a:spcPts val="100"/>
              </a:spcBef>
            </a:pPr>
            <a:r>
              <a:rPr dirty="0"/>
              <a:t>TIME</a:t>
            </a:r>
            <a:r>
              <a:rPr spc="-125" dirty="0"/>
              <a:t> </a:t>
            </a:r>
            <a:r>
              <a:rPr dirty="0"/>
              <a:t>COMPLEXITY</a:t>
            </a:r>
            <a:r>
              <a:rPr spc="-120" dirty="0"/>
              <a:t> </a:t>
            </a:r>
            <a:r>
              <a:rPr spc="-10" dirty="0"/>
              <a:t>DERIVATION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62400" y="1524000"/>
            <a:ext cx="5739676" cy="452623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DFS-Based Algorithm: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Traversal      = O(V)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Traversal        = O(E)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                = O(V + E)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Source-Removal Algorithm: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Indegree Calculation  = O(E)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Initialization  = O(V)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Processing     = O(V)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Traversal        = O(E)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                = O(V + E)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70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286000" y="1600200"/>
            <a:ext cx="7320915" cy="3824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/>
              <a:t>• DAG effectively models dependency problems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Topological Sorting provides valid task ordering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DFS and Source-Removal both solve efficiently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Both run in O(V + E) time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• Topological Sorting possible only for DAGs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459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24ITT41 - DESIGN AND ANALYSIS OF ALGORITHM</vt:lpstr>
      <vt:lpstr>PROBLEM STATEMENT :</vt:lpstr>
      <vt:lpstr>OBJECTIVE</vt:lpstr>
      <vt:lpstr>ALGORITHM DESIGN TECHNIQUE</vt:lpstr>
      <vt:lpstr>ALGORITHM</vt:lpstr>
      <vt:lpstr>PROOF OF CORRECTNESS</vt:lpstr>
      <vt:lpstr>OUTPUT SCREENSHOT</vt:lpstr>
      <vt:lpstr>TIME COMPLEXITY DERIVATION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 3 form PPT.pdf (1).pdf</dc:title>
  <dc:creator>DHIYAA R 24ITR033</dc:creator>
  <cp:keywords>DAHHUCZFRSM,BAG2sbp09BY,0</cp:keywords>
  <cp:lastModifiedBy>Harshitha Umashankar</cp:lastModifiedBy>
  <cp:revision>4</cp:revision>
  <dcterms:created xsi:type="dcterms:W3CDTF">2026-04-19T16:55:32Z</dcterms:created>
  <dcterms:modified xsi:type="dcterms:W3CDTF">2026-05-01T05:07:05Z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2026-04-19T00:00:00Z</vt:filetime>
  </property>
  <property fmtid="{D5CDD505-2E9C-101B-9397-08002B2CF9AE}" pid="4" name="Creator">
    <vt:lpwstr>Canva</vt:lpwstr>
  </property>
  <property fmtid="{D5CDD505-2E9C-101B-9397-08002B2CF9AE}" pid="5" name="LastSaved">
    <vt:filetime>2026-04-19T00:00:00Z</vt:filetime>
  </property>
  <property fmtid="{D5CDD505-2E9C-101B-9397-08002B2CF9AE}" pid="6" name="Producer">
    <vt:lpwstr>Canva</vt:lpwstr>
  </property>
</Properties>
</file>